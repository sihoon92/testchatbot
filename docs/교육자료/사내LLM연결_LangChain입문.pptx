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0C3E4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241280" y="3383280"/>
            <a:ext cx="3840480" cy="3840480"/>
          </a:xfrm>
          <a:prstGeom prst="ellipse">
            <a:avLst/>
          </a:prstGeom>
          <a:solidFill>
            <a:srgbClr val="0A363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교육자료 · 1편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사내 LLM 연결하기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LangChain 입문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파이썬 한 파일로 사내 LLM에 연결하고,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LangChain이 인풋·아웃풋을 어떻게 다루는지 코드로 이해한다.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257800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0E434C"/>
          </a:solidFill>
          <a:ln w="15875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52578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코드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5541264"/>
            <a:ext cx="3657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971800" y="5257800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0E434C"/>
          </a:solidFill>
          <a:ln w="15875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971800" y="52578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5541264"/>
            <a:ext cx="3657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120640" y="5257800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0E434C"/>
          </a:solidFill>
          <a:ln w="15875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120640" y="52578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LLM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배울 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01368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LangChain이란?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09397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LLM을 같은 방식으로 다루게 해주는 공통 인터페이스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508760" y="2624328"/>
            <a:ext cx="9875520" cy="0"/>
          </a:xfrm>
          <a:prstGeom prst="line">
            <a:avLst/>
          </a:prstGeom>
          <a:noFill/>
          <a:ln w="12700">
            <a:solidFill>
              <a:srgbClr val="D8E3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88036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7706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파일로 연결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31729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connect_llm.py — 30줄로 사내 LLM에 요청을 보낸다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508760" y="3703320"/>
            <a:ext cx="9875520" cy="0"/>
          </a:xfrm>
          <a:prstGeom prst="line">
            <a:avLst/>
          </a:prstGeom>
          <a:noFill/>
          <a:ln w="12700">
            <a:solidFill>
              <a:srgbClr val="D8E3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59352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959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84962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인풋 · 아웃풋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25196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메시지로 말하고(AI가) 메시지로 답한다 — 구조를 익힌다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1508760" y="4782312"/>
            <a:ext cx="9875520" cy="0"/>
          </a:xfrm>
          <a:prstGeom prst="line">
            <a:avLst/>
          </a:prstGeom>
          <a:noFill/>
          <a:ln w="12700">
            <a:solidFill>
              <a:srgbClr val="D8E3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5038344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038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08760" y="492861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사내망 현실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53309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인증서 · 프록시 때문에 막힐 때 뚫는 법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LLM 연결 &amp; LangChain 입문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LangChain이란 무엇인가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LLM 제공사(OpenAI · Ollama · 사내 게이트웨이…)를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공통 코드로 다루게 해주는 파이썬 라이브러리.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제공사를 바꿔도 코드는 그대로
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객체만 교체하면 나머지 로직은 재사용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36667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621024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· 도구 · 메모리를 표준화
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있는 메시지, tool call, 대화 기록을 공통 타입으로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46360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636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459028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생태계가 넓다
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LangGraph·콜백 등으로 확장 (우리 프로젝트도 사용)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720840" y="1600200"/>
            <a:ext cx="4800600" cy="4297680"/>
          </a:xfrm>
          <a:prstGeom prst="roundRect">
            <a:avLst>
              <a:gd name="adj" fmla="val 2128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783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인터페이스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24028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2240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앱 코드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55280" y="3154680"/>
            <a:ext cx="233172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16568" y="2788920"/>
            <a:ext cx="0" cy="36576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40880" y="48920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4892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49640" y="48920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4892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058400" y="48920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0" y="4892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16568" y="3794760"/>
            <a:ext cx="0" cy="731520"/>
          </a:xfrm>
          <a:prstGeom prst="line">
            <a:avLst/>
          </a:prstGeom>
          <a:noFill/>
          <a:ln w="22225">
            <a:solidFill>
              <a:srgbClr val="00A8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58100" y="4526280"/>
            <a:ext cx="3017520" cy="0"/>
          </a:xfrm>
          <a:prstGeom prst="line">
            <a:avLst/>
          </a:prstGeom>
          <a:noFill/>
          <a:ln w="22225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58100" y="4526280"/>
            <a:ext cx="0" cy="365760"/>
          </a:xfrm>
          <a:prstGeom prst="line">
            <a:avLst/>
          </a:prstGeom>
          <a:noFill/>
          <a:ln w="2222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166860" y="4526280"/>
            <a:ext cx="0" cy="365760"/>
          </a:xfrm>
          <a:prstGeom prst="line">
            <a:avLst/>
          </a:prstGeom>
          <a:noFill/>
          <a:ln w="2222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675620" y="4526280"/>
            <a:ext cx="0" cy="365760"/>
          </a:xfrm>
          <a:prstGeom prst="line">
            <a:avLst/>
          </a:prstGeom>
          <a:noFill/>
          <a:ln w="2222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LLM 연결 &amp; LangChain 입문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그림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요청이 흐르는 경로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5400000">
              <a:srgbClr val="C7D6D4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6712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코드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807208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리스트를</a:t>
            </a:r>
            <a:endParaRPr lang="en-US" sz="11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만들어 invoke()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91256" y="2743200"/>
            <a:ext cx="310896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38728" y="19659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5400000">
              <a:srgbClr val="C7D6D4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38728" y="216712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ChatOpenAI</a:t>
            </a:r>
            <a:endParaRPr lang="en-US" sz="16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(LangChain)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30168" y="2807208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base_url 로</a:t>
            </a:r>
            <a:endParaRPr lang="en-US" sz="11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게이트웨이를 가리킴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9904" y="2743200"/>
            <a:ext cx="310896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37376" y="19659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00A896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5400000">
              <a:srgbClr val="C7D6D4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37376" y="216712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게이트웨이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28816" y="2807208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호환 API</a:t>
            </a:r>
            <a:endParaRPr lang="en-US" sz="11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(/v1/chat/...)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88552" y="2743200"/>
            <a:ext cx="310896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336024" y="19659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5400000">
              <a:srgbClr val="C7D6D4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36024" y="216712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8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모델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427464" y="2807208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추론 후</a:t>
            </a:r>
            <a:endParaRPr lang="en-US" sz="11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생성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371600" y="3977640"/>
            <a:ext cx="9326880" cy="0"/>
          </a:xfrm>
          <a:prstGeom prst="line">
            <a:avLst/>
          </a:prstGeom>
          <a:noFill/>
          <a:ln w="19050">
            <a:solidFill>
              <a:srgbClr val="5F7075"/>
            </a:solidFill>
            <a:prstDash val="dash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371600" y="40416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응답(AIMessage)은 같은 경로를 거꾸로 되돌아온다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80060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834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LLM은 대부분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호환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게이트웨이다. 그래서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ChatOpenAI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의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base_url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만 사내 주소로 바꾸면 그대로 연결된다.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LLM 연결 &amp; LangChain 입문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 파일로 연결: connect_llm.py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772400" cy="4892040"/>
          </a:xfrm>
          <a:prstGeom prst="roundRect">
            <a:avLst>
              <a:gd name="adj" fmla="val 1495"/>
            </a:avLst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3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27632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627632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1627632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74520"/>
            <a:ext cx="73152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httpx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langchain_openai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ChatOpenAI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langchain_core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SystemMessage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HumanMessage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1) 회사 프록시 우회 (내부 엔드포인트는 프록시로는 못 닿는 경우가 많다)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"HTTP_PROXY"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"HTTPS_PROXY"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2) LLM 클라이언트 생성 — OpenAI 호환 게이트웨이를 base_url 로 가리킴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ChatOpenAI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base_url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"INTERNAL_LLM_BASE_URL"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"INTERNAL_LLM_API_KEY"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"not-needed"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"INTERNAL_LLM_MODEL"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http_client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httpx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3) 인풋: 역할(role)이 있는 메시지 리스트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SystemMessage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"너는 친절한 한국어 비서야."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HumanMessage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"사내 LLM 연결을 한 문장으로 설명해줘."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4) 실행 &amp; 아웃풋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0" y="1554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4단계로 읽기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0" y="201168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281160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프록시 우회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0" y="3035808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81160" y="30358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 생성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686800" y="4059936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281160" y="405993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인풋 메시지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686800" y="5084064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5084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81160" y="50840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실행·출력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686800" y="5943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0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설치:  pip install langchain-openai httpx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LLM 연결 &amp; LangChain 입문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뜯어보기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클라이언트 생성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30936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3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19072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719072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1719072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65960"/>
            <a:ext cx="5852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ChatOpenAI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base_url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"INTERNAL_LLM_BASE_URL"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"INTERNAL_LLM_API_KEY"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"not-needed"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"INTERNAL_LLM_MODEL"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http_client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httpx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223760" y="1691640"/>
            <a:ext cx="4297680" cy="1051560"/>
          </a:xfrm>
          <a:prstGeom prst="roundRect">
            <a:avLst>
              <a:gd name="adj" fmla="val 7826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2360" y="1810512"/>
            <a:ext cx="38404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base_url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게이트웨이 주소. 보통 끝에 /v1 을 포함한다. 이 한 줄이 '어디로 보낼지'를 정한다.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223760" y="2971800"/>
            <a:ext cx="4297680" cy="1234440"/>
          </a:xfrm>
          <a:prstGeom prst="roundRect">
            <a:avLst>
              <a:gd name="adj" fmla="val 6667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3090672"/>
            <a:ext cx="38404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api_key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게이트웨이가 요구하면 넣고, 필요 없으면 'not-needed' 같은 placeholder. 빈 값이면 라이브러리가 오류를 낸다.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223760" y="4434840"/>
            <a:ext cx="4297680" cy="1005840"/>
          </a:xfrm>
          <a:prstGeom prst="roundRect">
            <a:avLst>
              <a:gd name="adj" fmla="val 8182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4553712"/>
            <a:ext cx="3840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사용할 모델 이름(예: gpt-4o-mini). 게이트웨이가 아는 이름을 써야 한다.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223760" y="5669280"/>
            <a:ext cx="4297680" cy="822960"/>
          </a:xfrm>
          <a:prstGeom prst="roundRect">
            <a:avLst>
              <a:gd name="adj" fmla="val 10000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5788152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http_client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SSL/프록시 같은 네트워크 세부를 제어 (뒤에서 자세히).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LLM 연결 &amp; LangChain 입문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뜯어보기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인풋: 메시지로 말한다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30936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3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19072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719072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1719072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65960"/>
            <a:ext cx="5852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SystemMessage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"너는 친절한"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"한국어 비서야."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HumanMessage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"한 문장으로"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"설명해줘."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223760" y="1691640"/>
            <a:ext cx="4297680" cy="1188720"/>
          </a:xfrm>
          <a:prstGeom prst="roundRect">
            <a:avLst>
              <a:gd name="adj" fmla="val 6923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2360" y="1810512"/>
            <a:ext cx="38404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LLM의 입력은 '메시지 리스트'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문자열 하나가 아니라, 역할(role)이 붙은 메시지들의 순서 있는 목록을 보낸다.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223760" y="3108960"/>
            <a:ext cx="4297680" cy="1371600"/>
          </a:xfrm>
          <a:prstGeom prst="roundRect">
            <a:avLst>
              <a:gd name="adj" fmla="val 6000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3227832"/>
            <a:ext cx="3840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역할이 대화의 맥락을 만든다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System은 규칙·성격, Human은 사용자 질문, AI는 모델의 이전 답변. 이 순서가 곧 대화 기록이 된다.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LLM 연결 &amp; LangChain 입문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223760" y="4709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메시지 타입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23760" y="50566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SystemMessage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35440" y="5056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규칙·페르소나 지정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23760" y="5440680"/>
            <a:ext cx="4297680" cy="0"/>
          </a:xfrm>
          <a:prstGeom prst="line">
            <a:avLst/>
          </a:prstGeom>
          <a:noFill/>
          <a:ln w="12700">
            <a:solidFill>
              <a:srgbClr val="D8E3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5458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HumanMessage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35440" y="5458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23760" y="5843016"/>
            <a:ext cx="4297680" cy="0"/>
          </a:xfrm>
          <a:prstGeom prst="line">
            <a:avLst/>
          </a:prstGeom>
          <a:noFill/>
          <a:ln w="12700">
            <a:solidFill>
              <a:srgbClr val="D8E3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5861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AIMessage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35440" y="58613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모델의 응답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뜯어보기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&amp; 아웃풋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30936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3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19072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719072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1719072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65960"/>
            <a:ext cx="5852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한 번의 호출로 요청→응답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reply 는 AIMessage 객체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→ 실제 답변 텍스트(문자열)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비동기도 동일한 모양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ainvoke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223760" y="1691640"/>
            <a:ext cx="4297680" cy="1097280"/>
          </a:xfrm>
          <a:prstGeom prst="roundRect">
            <a:avLst>
              <a:gd name="adj" fmla="val 7500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2360" y="1810512"/>
            <a:ext cx="3840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invoke() 가 실제 호출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리스트를 넣으면 게이트웨이에 요청을 보내고 응답을 기다린다.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223760" y="3017520"/>
            <a:ext cx="4297680" cy="1234440"/>
          </a:xfrm>
          <a:prstGeom prst="roundRect">
            <a:avLst>
              <a:gd name="adj" fmla="val 6667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3136392"/>
            <a:ext cx="38404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반환값은 AIMessage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결과는 문자열이 아니라 객체다. 사람이 볼 답변 텍스트는 .content 에 들어있다.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223760" y="4480560"/>
            <a:ext cx="4297680" cy="1234440"/>
          </a:xfrm>
          <a:prstGeom prst="roundRect">
            <a:avLst>
              <a:gd name="adj" fmla="val 6667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4599432"/>
            <a:ext cx="38404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ainvoke = 비동기 버전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같은 async 서버에서는 await llm.ainvoke(...) 를 쓴다. 우리 프로젝트가 이 방식.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LLM 연결 &amp; LangChain 입문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원리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invoke() 한 번에 일어나는 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2748" y="189280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274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37744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리스트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529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System/Human 메시지를 준비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24328" y="2788920"/>
            <a:ext cx="219456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62072" y="21031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1F6F5"/>
          </a:solidFill>
          <a:ln w="17780">
            <a:solidFill>
              <a:srgbClr val="D8E3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4740" y="1892808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474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35224" y="237744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요청으로 변환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53512" y="28529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LangChain이 OpenAI 호환 형식으로 직렬화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788920"/>
            <a:ext cx="219456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84064" y="21031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6732" y="189280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6732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57216" y="237744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게이트웨이 → 모델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75504" y="28529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HTTPS로 전송, 모델이 추론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68312" y="2788920"/>
            <a:ext cx="219456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06056" y="21031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1F6F5"/>
          </a:solidFill>
          <a:ln w="17780">
            <a:solidFill>
              <a:srgbClr val="D8E3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78724" y="1892808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78724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79208" y="237744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수신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97496" y="28529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응답을 받음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290304" y="2788920"/>
            <a:ext cx="219456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528048" y="21031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00716" y="189280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00716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01200" y="237744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AIMessage 로 변환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19488" y="28529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reply.content 로 꺼내 쓰기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429768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0E43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4805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문장 요약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48006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LangChain은 '메시지 ↔ HTTP JSON' 을 양방향으로 번역해주는 어댑터다. 우리는 파이썬 객체(메시지)만 다루고, 네트워크·형식 변환은 라이브러리에 맡긴다.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LLM 연결 &amp; LangChain 입문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사내망 현실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막힐 때 뚫는 두 가지: SSL · 프록시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5303520" cy="64008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20240"/>
            <a:ext cx="530352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프록시 우회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76148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내부 LLM 주소는 회사 프록시를 거치면 도달하지 못하는 경우가 많다.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90448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전에 HTTP(S)_PROXY 환경변수를 비운다 → 직접 연결.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5148072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51480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os.environ.pop("HTTPS_PROXY", None)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00200"/>
            <a:ext cx="5303520" cy="640080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920240"/>
            <a:ext cx="5303520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600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인증서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2468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276148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사설 CA를 쓰면 기본 신뢰저장소로는 인증서 검증이 실패한다.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92240" y="3611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390448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임시로 verify=False (비보안). 운영은 CA 번들(.pem) 경로 지정을 권장.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92240" y="5148072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51480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httpx.Client(verify=False)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LLM 연결 &amp; LangChain 입문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 vs 사내(internal)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백엔드 모두 LangChain 위에서 동작한다. 바뀌는 건 '모델 객체를 만드는 부분'뿐 — 나머지 로직은 그대로다.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1088136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231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24231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(로컬)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06640" y="24231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internal (게이트웨이)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990088"/>
            <a:ext cx="10881360" cy="566928"/>
          </a:xfrm>
          <a:prstGeom prst="rect">
            <a:avLst/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900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66160" y="29900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ChatOllama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06640" y="299008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ChatOpenAI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557016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5701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가리키는 곳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66160" y="355701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base_url = localhost:11434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406640" y="355701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base_url = 사내 /v1 주소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123944"/>
            <a:ext cx="10881360" cy="566928"/>
          </a:xfrm>
          <a:prstGeom prst="rect">
            <a:avLst/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12394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66160" y="4123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보통 불필요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06640" y="412394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 (요구 시)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690872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6908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이슈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566160" y="469087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거의 없음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06640" y="469087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SSL · 프록시 대응 필요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257800"/>
            <a:ext cx="10881360" cy="566928"/>
          </a:xfrm>
          <a:prstGeom prst="rect">
            <a:avLst/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2578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 방법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566160" y="52578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LLM_BACKEND=ollama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06640" y="52578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8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LLM_BACKEND=internal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프로젝트  </a:t>
            </a:r>
            <a:pPr indent="0" marL="0">
              <a:buNone/>
            </a:pPr>
            <a:r>
              <a:rPr lang="en-US" sz="130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get_chat_model(settings) 이 이 분기를 담당한다 — .env 의 LLM_BACKEND 한 줄로 전환.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LLM 연결 &amp; LangChain 입문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572000" cy="4572000"/>
          </a:xfrm>
          <a:prstGeom prst="ellipse">
            <a:avLst/>
          </a:prstGeom>
          <a:solidFill>
            <a:srgbClr val="0C3E4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 핵심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26771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LLM은 대개 OpenAI 호환 — ChatOpenAI + base_url 로 연결한다.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22960" y="3072384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3054096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LangChain의 입력은 역할 있는 메시지 리스트, 출력은 AIMessage(.content).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22960" y="3858768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8404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invoke()가 '메시지 ↔ HTTP JSON'을 번역해 요청·응답을 처리한다.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822960" y="4645152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462686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사내망에서는 프록시 우회 · SSL 대응이 실제 연결의 관문이다.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22960" y="5623560"/>
            <a:ext cx="10515600" cy="822960"/>
          </a:xfrm>
          <a:prstGeom prst="roundRect">
            <a:avLst>
              <a:gd name="adj" fmla="val 13333"/>
            </a:avLst>
          </a:prstGeom>
          <a:solidFill>
            <a:srgbClr val="0E434C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97280" y="5623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→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 2: 프롬프트 입력 &amp; LangChain vs LangGraph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2026-07-24T01:38:06Z</dcterms:created>
  <dcterms:modified xsi:type="dcterms:W3CDTF">2026-07-24T01:38:06Z</dcterms:modified>
</cp:coreProperties>
</file>