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31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463040"/>
            <a:ext cx="4937760" cy="4937760"/>
          </a:xfrm>
          <a:prstGeom prst="ellipse">
            <a:avLst/>
          </a:prstGeom>
          <a:solidFill>
            <a:srgbClr val="0C3E4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241280" y="3383280"/>
            <a:ext cx="3840480" cy="3840480"/>
          </a:xfrm>
          <a:prstGeom prst="ellipse">
            <a:avLst/>
          </a:prstGeom>
          <a:solidFill>
            <a:srgbClr val="0A36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280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교육자료 · 3편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1737360"/>
            <a:ext cx="9144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 calling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822960" y="324612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C9D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LLM이 계산을 틀리는 이유에서 시작해,</a:t>
            </a: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C9D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도구를 정의하고 호출하는 원리를 코드로 뜯어본다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22960" y="4526280"/>
            <a:ext cx="1508760" cy="548640"/>
          </a:xfrm>
          <a:prstGeom prst="roundRect">
            <a:avLst>
              <a:gd name="adj" fmla="val 50000"/>
            </a:avLst>
          </a:prstGeom>
          <a:solidFill>
            <a:srgbClr val="0E434C"/>
          </a:solidFill>
          <a:ln w="15875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52628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질문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331720" y="4800600"/>
            <a:ext cx="292608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624328" y="4526280"/>
            <a:ext cx="1508760" cy="548640"/>
          </a:xfrm>
          <a:prstGeom prst="roundRect">
            <a:avLst>
              <a:gd name="adj" fmla="val 50000"/>
            </a:avLst>
          </a:prstGeom>
          <a:solidFill>
            <a:srgbClr val="0E434C"/>
          </a:solidFill>
          <a:ln w="15875">
            <a:solidFill>
              <a:srgbClr val="00A8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24328" y="452628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tool_calls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133088" y="4800600"/>
            <a:ext cx="292608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425696" y="4526280"/>
            <a:ext cx="1508760" cy="548640"/>
          </a:xfrm>
          <a:prstGeom prst="roundRect">
            <a:avLst>
              <a:gd name="adj" fmla="val 50000"/>
            </a:avLst>
          </a:prstGeom>
          <a:solidFill>
            <a:srgbClr val="0E434C"/>
          </a:solidFill>
          <a:ln w="15875">
            <a:solidFill>
              <a:srgbClr val="00A8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25696" y="452628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실행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34456" y="4800600"/>
            <a:ext cx="292608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227064" y="4526280"/>
            <a:ext cx="1508760" cy="548640"/>
          </a:xfrm>
          <a:prstGeom prst="roundRect">
            <a:avLst>
              <a:gd name="adj" fmla="val 50000"/>
            </a:avLst>
          </a:prstGeom>
          <a:solidFill>
            <a:srgbClr val="0E434C"/>
          </a:solidFill>
          <a:ln w="15875">
            <a:solidFill>
              <a:srgbClr val="02C3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27064" y="452628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최종 답변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28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오늘 배울 것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691640"/>
            <a:ext cx="548640" cy="5486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508760" y="158191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필요한가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08760" y="1965960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F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도구 없이 vs 도구 있이 — 큰 수 곱셈으로 비교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508760" y="2478024"/>
            <a:ext cx="9875520" cy="0"/>
          </a:xfrm>
          <a:prstGeom prst="line">
            <a:avLst/>
          </a:prstGeom>
          <a:noFill/>
          <a:ln w="12700">
            <a:solidFill>
              <a:srgbClr val="D8E3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2770632"/>
            <a:ext cx="548640" cy="54864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7706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08760" y="2660904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정의와 바인딩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508760" y="304495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F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@tool 로 정의하고, bind_tools 로 LLM에 연결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1508760" y="3557016"/>
            <a:ext cx="9875520" cy="0"/>
          </a:xfrm>
          <a:prstGeom prst="line">
            <a:avLst/>
          </a:prstGeom>
          <a:noFill/>
          <a:ln w="12700">
            <a:solidFill>
              <a:srgbClr val="D8E3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3849624"/>
            <a:ext cx="548640" cy="5486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849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508760" y="3739896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실행 원리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508760" y="4123944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F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수동 왕복 루프 vs create_react_agent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1508760" y="4636008"/>
            <a:ext cx="9875520" cy="0"/>
          </a:xfrm>
          <a:prstGeom prst="line">
            <a:avLst/>
          </a:prstGeom>
          <a:noFill/>
          <a:ln w="12700">
            <a:solidFill>
              <a:srgbClr val="D8E3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" y="4928616"/>
            <a:ext cx="548640" cy="54864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492861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508760" y="4818888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실전(엑셀 도구)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508760" y="5202936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F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패턴을 엑셀 셀 write/read 에 적용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calling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0944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개념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28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 calling 이란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F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LLM이 도구를 직접 '실행'한다는 건 흔한 오해다 — 실제로는 요청과 실행이 분리되어 있다.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5272888" cy="2834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20320">
            <a:solidFill>
              <a:srgbClr val="D8E3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240280"/>
            <a:ext cx="420624" cy="420624"/>
          </a:xfrm>
          <a:prstGeom prst="ellipse">
            <a:avLst/>
          </a:prstGeom>
          <a:solidFill>
            <a:srgbClr val="5F707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2402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2834640"/>
            <a:ext cx="4724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7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흔한 오해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3383280"/>
            <a:ext cx="472424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"LLM이 함수를 직접 실행한다"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곱셈이 필요하면 LLM이 스스로 계산까지 마쳐서 결과를 돌려준다고 생각하기 쉽다.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949544" y="3383280"/>
            <a:ext cx="292608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278728" y="1965960"/>
            <a:ext cx="5272888" cy="2834640"/>
          </a:xfrm>
          <a:prstGeom prst="roundRect">
            <a:avLst>
              <a:gd name="adj" fmla="val 3226"/>
            </a:avLst>
          </a:prstGeom>
          <a:solidFill>
            <a:srgbClr val="F1F6F5"/>
          </a:solidFill>
          <a:ln w="20320">
            <a:solidFill>
              <a:srgbClr val="02809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53048" y="2240280"/>
            <a:ext cx="420624" cy="42062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53048" y="22402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553048" y="2834640"/>
            <a:ext cx="4724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7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실제로 벌어지는 일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553048" y="3383280"/>
            <a:ext cx="472424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"이 도구를, 이 인자로 불러줘"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LLM은 호출 요청만 만든다. 실제 실행(함수 호출)은 항상 우리 코드가 담당한다.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5074920"/>
            <a:ext cx="10911535" cy="1051560"/>
          </a:xfrm>
          <a:prstGeom prst="roundRect">
            <a:avLst>
              <a:gd name="adj" fmla="val 7826"/>
            </a:avLst>
          </a:prstGeom>
          <a:solidFill>
            <a:srgbClr val="0E43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6112" y="5202936"/>
            <a:ext cx="10399471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오해 교정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LLM은 함수를 직접 실행하지 않는다. “이 도구를, 이 인자로 불러줘” 라고 말할 뿐이고, 실제 실행은 우리 코드가 한다.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calling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0944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 뜯어보기 ①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28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왜 도구가 필요한가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6675120" cy="4480560"/>
          </a:xfrm>
          <a:prstGeom prst="roundRect">
            <a:avLst>
              <a:gd name="adj" fmla="val 1633"/>
            </a:avLst>
          </a:prstGeom>
          <a:solidFill>
            <a:srgbClr val="1E1E1E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63500" dist="38100" dir="5400000">
              <a:srgbClr val="0B2A30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645920"/>
            <a:ext cx="100584" cy="100584"/>
          </a:xfrm>
          <a:prstGeom prst="ellipse">
            <a:avLst/>
          </a:prstGeom>
          <a:solidFill>
            <a:srgbClr val="FF5F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42416" y="1645920"/>
            <a:ext cx="100584" cy="100584"/>
          </a:xfrm>
          <a:prstGeom prst="ellipse">
            <a:avLst/>
          </a:prstGeom>
          <a:solidFill>
            <a:srgbClr val="FFB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43584" y="1645920"/>
            <a:ext cx="100584" cy="100584"/>
          </a:xfrm>
          <a:prstGeom prst="ellipse">
            <a:avLst/>
          </a:prstGeom>
          <a:solidFill>
            <a:srgbClr val="27C9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1847088"/>
            <a:ext cx="6163056" cy="3950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4823, 6791  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암산으로는 못 맞히는 크기 - 도구가 필요한 이유를 보여준다</a:t>
            </a:r>
            <a:endParaRPr lang="en-US" sz="9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step_1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-&gt; 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9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"Step 1: 도구 없이 큰 수 곱셈을 직접 시키기"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</a:t>
            </a:r>
            <a:endParaRPr lang="en-US" sz="9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reply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invoke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"{A} 곱하기 {B} 는 얼마야? 숫자만 답해."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correct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* 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9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"모델 답변: {reply.content!r}"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"정답({correct})이 답변에 포함됐는가: {str(correct) in reply.content}"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7589520" y="1975104"/>
            <a:ext cx="3962095" cy="1417320"/>
          </a:xfrm>
          <a:prstGeom prst="roundRect">
            <a:avLst>
              <a:gd name="adj" fmla="val 5806"/>
            </a:avLst>
          </a:prstGeom>
          <a:solidFill>
            <a:srgbClr val="F1F6F5"/>
          </a:solidFill>
          <a:ln w="12700">
            <a:solidFill>
              <a:srgbClr val="D8E3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08976" y="2103120"/>
            <a:ext cx="3523183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4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실행 결과 (오답)</a:t>
            </a:r>
            <a:endParaRPr lang="en-US" sz="14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17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 답변: '32753003'</a:t>
            </a:r>
            <a:endParaRPr lang="en-US" sz="14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17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정답(32752993)이 답변에 포함됐는가: False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7589520" y="3648456"/>
            <a:ext cx="3962095" cy="1783080"/>
          </a:xfrm>
          <a:prstGeom prst="roundRect">
            <a:avLst>
              <a:gd name="adj" fmla="val 4615"/>
            </a:avLst>
          </a:prstGeom>
          <a:solidFill>
            <a:srgbClr val="F1F6F5"/>
          </a:solidFill>
          <a:ln w="12700">
            <a:solidFill>
              <a:srgbClr val="D8E3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08976" y="3776472"/>
            <a:ext cx="3523183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4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도구가 필요한가</a:t>
            </a:r>
            <a:endParaRPr lang="en-US" sz="14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17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LLM은 큰 수 곱셈을 암산하듯 추정한다 — 자릿수가 커지면 신뢰할 수 없다. 정확한 계산은 도구에 맡겨야 한다.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calling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0944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 뜯어보기 ②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28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@tool 로 도구 정의하기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6675120" cy="4480560"/>
          </a:xfrm>
          <a:prstGeom prst="roundRect">
            <a:avLst>
              <a:gd name="adj" fmla="val 1633"/>
            </a:avLst>
          </a:prstGeom>
          <a:solidFill>
            <a:srgbClr val="1E1E1E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63500" dist="38100" dir="5400000">
              <a:srgbClr val="0B2A30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645920"/>
            <a:ext cx="100584" cy="100584"/>
          </a:xfrm>
          <a:prstGeom prst="ellipse">
            <a:avLst/>
          </a:prstGeom>
          <a:solidFill>
            <a:srgbClr val="FF5F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42416" y="1645920"/>
            <a:ext cx="100584" cy="100584"/>
          </a:xfrm>
          <a:prstGeom prst="ellipse">
            <a:avLst/>
          </a:prstGeom>
          <a:solidFill>
            <a:srgbClr val="FFB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43584" y="1645920"/>
            <a:ext cx="100584" cy="100584"/>
          </a:xfrm>
          <a:prstGeom prst="ellipse">
            <a:avLst/>
          </a:prstGeom>
          <a:solidFill>
            <a:srgbClr val="27C9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1847088"/>
            <a:ext cx="6163056" cy="3950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</a:t>
            </a:r>
            <a:endParaRPr lang="en-US" sz="9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multiply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-&gt; 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9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"두 정수 a, b 를 곱한 값을 돌려준다. 곱셈이 필요하면 반드시 이 도구를 써라."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</a:t>
            </a:r>
            <a:endParaRPr lang="en-US" sz="9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* 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9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step_2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-&gt; 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9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"Step 2: @tool 로 도구를 정의만 해보기 (아직 LLM 에 연결 안 함)"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</a:t>
            </a:r>
            <a:endParaRPr lang="en-US" sz="9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"도구 이름:"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multiply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"도구 설명(LLM 이 읽는 부분):"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multiply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description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"도구 스키마:"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multiply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args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"직접 호출:"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multiply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invoke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({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"a"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"b"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7589520" y="1975104"/>
            <a:ext cx="3962095" cy="1737360"/>
          </a:xfrm>
          <a:prstGeom prst="roundRect">
            <a:avLst>
              <a:gd name="adj" fmla="val 4737"/>
            </a:avLst>
          </a:prstGeom>
          <a:solidFill>
            <a:srgbClr val="F1F6F5"/>
          </a:solidFill>
          <a:ln w="12700">
            <a:solidFill>
              <a:srgbClr val="D8E3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08976" y="2103120"/>
            <a:ext cx="3523183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4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docstring = LLM용 설명서</a:t>
            </a:r>
            <a:endParaRPr lang="en-US" sz="14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17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multiply.description 은 함수의 docstring 그대로다 — LLM은 이 문장만 보고 언제 도구를 써야 하는지 판단한다.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7589520" y="3968496"/>
            <a:ext cx="3962095" cy="1463040"/>
          </a:xfrm>
          <a:prstGeom prst="roundRect">
            <a:avLst>
              <a:gd name="adj" fmla="val 5625"/>
            </a:avLst>
          </a:prstGeom>
          <a:solidFill>
            <a:srgbClr val="F1F6F5"/>
          </a:solidFill>
          <a:ln w="12700">
            <a:solidFill>
              <a:srgbClr val="D8E3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08976" y="4096512"/>
            <a:ext cx="3523183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4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아직 LLM에 연결 안 됨</a:t>
            </a:r>
            <a:endParaRPr lang="en-US" sz="14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17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여기서는 도구를 정의하고 직접 호출만 해본다 — bind_tools 는 다음 단계에서 나온다.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calling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0944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 뜯어보기 ③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28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bind_tools 로 연결하기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6675120" cy="4480560"/>
          </a:xfrm>
          <a:prstGeom prst="roundRect">
            <a:avLst>
              <a:gd name="adj" fmla="val 1633"/>
            </a:avLst>
          </a:prstGeom>
          <a:solidFill>
            <a:srgbClr val="1E1E1E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63500" dist="38100" dir="5400000">
              <a:srgbClr val="0B2A30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645920"/>
            <a:ext cx="100584" cy="100584"/>
          </a:xfrm>
          <a:prstGeom prst="ellipse">
            <a:avLst/>
          </a:prstGeom>
          <a:solidFill>
            <a:srgbClr val="FF5F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42416" y="1645920"/>
            <a:ext cx="100584" cy="100584"/>
          </a:xfrm>
          <a:prstGeom prst="ellipse">
            <a:avLst/>
          </a:prstGeom>
          <a:solidFill>
            <a:srgbClr val="FFB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43584" y="1645920"/>
            <a:ext cx="100584" cy="100584"/>
          </a:xfrm>
          <a:prstGeom prst="ellipse">
            <a:avLst/>
          </a:prstGeom>
          <a:solidFill>
            <a:srgbClr val="27C9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1847088"/>
            <a:ext cx="6163056" cy="3950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step_3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-&gt; 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9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"Step 3: bind_tools - LLM 이 '부르고 싶다'고 말하는 것을 확인"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</a:t>
            </a:r>
            <a:endParaRPr lang="en-US" sz="9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bound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bind_tools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([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multiply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</a:t>
            </a:r>
            <a:endParaRPr lang="en-US" sz="9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reply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bound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invoke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9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[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HumanMessage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"{A} 곱하기 {B} 를 계산해줘. 반드시 도구를 써라."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)]</a:t>
            </a:r>
            <a:endParaRPr lang="en-US" sz="9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</a:t>
            </a:r>
            <a:endParaRPr lang="en-US" sz="9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"tool_calls:"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reply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tool_calls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"content(비어있을 수 있다 - 아직 계산 안 함):"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repr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reply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</a:t>
            </a:r>
            <a:endParaRPr lang="en-US" sz="9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9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"\n주의: 이 시점까지 실제 곱셈은 한 번도 실행되지 않았다 - "</a:t>
            </a:r>
            <a:endParaRPr lang="en-US" sz="9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"LLM 은 '불러달라'는 요청만 만들었다."</a:t>
            </a:r>
            <a:endParaRPr lang="en-US" sz="9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7589520" y="1975104"/>
            <a:ext cx="3962095" cy="1417320"/>
          </a:xfrm>
          <a:prstGeom prst="roundRect">
            <a:avLst>
              <a:gd name="adj" fmla="val 5806"/>
            </a:avLst>
          </a:prstGeom>
          <a:solidFill>
            <a:srgbClr val="F1F6F5"/>
          </a:solidFill>
          <a:ln w="12700">
            <a:solidFill>
              <a:srgbClr val="D8E3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08976" y="2103120"/>
            <a:ext cx="3523183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4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tool_calls 만 생성됨</a:t>
            </a:r>
            <a:endParaRPr lang="en-US" sz="14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17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reply.tool_calls 에 이름 · 인자가 담겨 있다 — 이것이 '불러달라'는 요청이다.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7589520" y="3648456"/>
            <a:ext cx="3962095" cy="1783080"/>
          </a:xfrm>
          <a:prstGeom prst="roundRect">
            <a:avLst>
              <a:gd name="adj" fmla="val 4615"/>
            </a:avLst>
          </a:prstGeom>
          <a:solidFill>
            <a:srgbClr val="F1F6F5"/>
          </a:solidFill>
          <a:ln w="12700">
            <a:solidFill>
              <a:srgbClr val="D8E3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08976" y="3776472"/>
            <a:ext cx="3523183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4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아직 계산은 실행되지 않았다</a:t>
            </a:r>
            <a:endParaRPr lang="en-US" sz="14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17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는 비어있다 — 실제 실행은 다음 단계(Step 4)에서 우리 코드가 한다.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calling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0944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다이어그램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28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도구 호출 왕복 흐름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69468" y="1965960"/>
            <a:ext cx="187452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7780">
            <a:solidFill>
              <a:srgbClr val="0280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96416" y="1755648"/>
            <a:ext cx="420624" cy="42062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96416" y="17556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79196" y="2258568"/>
            <a:ext cx="1655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우리 코드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79196" y="2679192"/>
            <a:ext cx="16550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5F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요청 — 모델을 호출한다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43988" y="2674620"/>
            <a:ext cx="320040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964028" y="1965960"/>
            <a:ext cx="1874520" cy="1417320"/>
          </a:xfrm>
          <a:prstGeom prst="roundRect">
            <a:avLst>
              <a:gd name="adj" fmla="val 5806"/>
            </a:avLst>
          </a:prstGeom>
          <a:solidFill>
            <a:srgbClr val="F1F6F5"/>
          </a:solidFill>
          <a:ln w="17780">
            <a:solidFill>
              <a:srgbClr val="D8E3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90976" y="1755648"/>
            <a:ext cx="420624" cy="420624"/>
          </a:xfrm>
          <a:prstGeom prst="ellipse">
            <a:avLst/>
          </a:prstGeom>
          <a:solidFill>
            <a:srgbClr val="00A8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90976" y="17556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073756" y="2258568"/>
            <a:ext cx="1655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073756" y="2679192"/>
            <a:ext cx="16550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5F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tool_calls 로 응답 — 이 도구를, 이 인자로 불러달라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38548" y="2674620"/>
            <a:ext cx="320040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158588" y="1965960"/>
            <a:ext cx="187452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7780">
            <a:solidFill>
              <a:srgbClr val="02809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85536" y="1755648"/>
            <a:ext cx="420624" cy="42062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85536" y="17556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268316" y="2258568"/>
            <a:ext cx="1655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우리 코드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268316" y="2679192"/>
            <a:ext cx="16550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5F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실행 — 도구 함수를 직접 호출한다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033108" y="2674620"/>
            <a:ext cx="320040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353148" y="1965960"/>
            <a:ext cx="1874520" cy="1417320"/>
          </a:xfrm>
          <a:prstGeom prst="roundRect">
            <a:avLst>
              <a:gd name="adj" fmla="val 5806"/>
            </a:avLst>
          </a:prstGeom>
          <a:solidFill>
            <a:srgbClr val="F1F6F5"/>
          </a:solidFill>
          <a:ln w="17780">
            <a:solidFill>
              <a:srgbClr val="D8E3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80096" y="1755648"/>
            <a:ext cx="420624" cy="420624"/>
          </a:xfrm>
          <a:prstGeom prst="ellipse">
            <a:avLst/>
          </a:prstGeom>
          <a:solidFill>
            <a:srgbClr val="00A8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80096" y="17556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462876" y="2258568"/>
            <a:ext cx="1655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ToolMessage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462876" y="2679192"/>
            <a:ext cx="16550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5F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실행 결과를 다시 담아 전달한다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9227668" y="2674620"/>
            <a:ext cx="320040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547708" y="1965960"/>
            <a:ext cx="187452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7780">
            <a:solidFill>
              <a:srgbClr val="02C39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274656" y="1755648"/>
            <a:ext cx="420624" cy="420624"/>
          </a:xfrm>
          <a:prstGeom prst="ellipse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274656" y="17556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9657436" y="2258568"/>
            <a:ext cx="1655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657436" y="2679192"/>
            <a:ext cx="16550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5F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재호출 — 결과를 보고 최종 답을 만든다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40080" y="3977640"/>
            <a:ext cx="10911535" cy="1143000"/>
          </a:xfrm>
          <a:prstGeom prst="roundRect">
            <a:avLst>
              <a:gd name="adj" fmla="val 7200"/>
            </a:avLst>
          </a:prstGeom>
          <a:solidFill>
            <a:srgbClr val="0E43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96112" y="4105656"/>
            <a:ext cx="10399471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문장 요약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LLM은 도구를 실행하지 않는다 — 호출을 요청할 뿐, 실제 실행은 항상 우리 코드가 담당한다.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640080" y="525780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F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1→2→3→4 를 거쳐 5 에서 최종 답이 나온다 — Step 4 의 수동 루프가 정확히 이 왕복을 코드로 옮긴 것이다.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calling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0944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 뜯어보기 ④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28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수동 왕복 루프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6675120" cy="4480560"/>
          </a:xfrm>
          <a:prstGeom prst="roundRect">
            <a:avLst>
              <a:gd name="adj" fmla="val 1633"/>
            </a:avLst>
          </a:prstGeom>
          <a:solidFill>
            <a:srgbClr val="1E1E1E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63500" dist="38100" dir="5400000">
              <a:srgbClr val="0B2A30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645920"/>
            <a:ext cx="100584" cy="100584"/>
          </a:xfrm>
          <a:prstGeom prst="ellipse">
            <a:avLst/>
          </a:prstGeom>
          <a:solidFill>
            <a:srgbClr val="FF5F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42416" y="1645920"/>
            <a:ext cx="100584" cy="100584"/>
          </a:xfrm>
          <a:prstGeom prst="ellipse">
            <a:avLst/>
          </a:prstGeom>
          <a:solidFill>
            <a:srgbClr val="FFB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43584" y="1645920"/>
            <a:ext cx="100584" cy="100584"/>
          </a:xfrm>
          <a:prstGeom prst="ellipse">
            <a:avLst/>
          </a:prstGeom>
          <a:solidFill>
            <a:srgbClr val="27C9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1847088"/>
            <a:ext cx="6163056" cy="3950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step_4</a:t>
            </a:r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</a:t>
            </a:r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-&gt; </a:t>
            </a:r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9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</a:t>
            </a:r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"Step 4: 수동 왕복 루프 - 도구를 실제로 실행하고 결과를 되돌려준다"</a:t>
            </a:r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</a:t>
            </a:r>
            <a:endParaRPr lang="en-US" sz="9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tools_by_name</a:t>
            </a:r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{</a:t>
            </a:r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multiply</a:t>
            </a:r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multiply</a:t>
            </a:r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bound</a:t>
            </a:r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</a:t>
            </a:r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bind_tools</a:t>
            </a:r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([</a:t>
            </a:r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multiply</a:t>
            </a:r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</a:t>
            </a:r>
            <a:endParaRPr lang="en-US" sz="9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messages</a:t>
            </a:r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[</a:t>
            </a:r>
            <a:endParaRPr lang="en-US" sz="9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HumanMessage</a:t>
            </a:r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</a:t>
            </a:r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"{A} 곱하기 {B} 를 계산해줘. 반드시 도구를 써라."</a:t>
            </a:r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]</a:t>
            </a:r>
            <a:endParaRPr lang="en-US" sz="9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ai_msg</a:t>
            </a:r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bound</a:t>
            </a:r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invoke</a:t>
            </a:r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messages</a:t>
            </a:r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messages</a:t>
            </a:r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append</a:t>
            </a:r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ai_msg</a:t>
            </a:r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call</a:t>
            </a:r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ai_msg</a:t>
            </a:r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tool_calls</a:t>
            </a:r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9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</a:t>
            </a:r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tools_by_name</a:t>
            </a:r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call</a:t>
            </a:r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"name"</a:t>
            </a:r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]].</a:t>
            </a:r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invoke</a:t>
            </a:r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call</a:t>
            </a:r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"args"</a:t>
            </a:r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</a:t>
            </a:r>
            <a:endParaRPr lang="en-US" sz="9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"[실행] {call['name']}({call['args']}) = {result}"</a:t>
            </a:r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messages</a:t>
            </a:r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append</a:t>
            </a:r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9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ToolMessage</a:t>
            </a:r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</a:t>
            </a:r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</a:t>
            </a:r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</a:t>
            </a:r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), </a:t>
            </a:r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tool_call_id</a:t>
            </a:r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call</a:t>
            </a:r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"id"</a:t>
            </a:r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</a:t>
            </a:r>
            <a:endParaRPr lang="en-US" sz="9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)</a:t>
            </a:r>
            <a:endParaRPr lang="en-US" sz="9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</a:t>
            </a:r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bound</a:t>
            </a:r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invoke</a:t>
            </a:r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messages</a:t>
            </a:r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"최종 답변:"</a:t>
            </a:r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</a:t>
            </a:r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</a:t>
            </a:r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589520" y="1975104"/>
            <a:ext cx="3962095" cy="1463040"/>
          </a:xfrm>
          <a:prstGeom prst="roundRect">
            <a:avLst>
              <a:gd name="adj" fmla="val 5625"/>
            </a:avLst>
          </a:prstGeom>
          <a:solidFill>
            <a:srgbClr val="F1F6F5"/>
          </a:solidFill>
          <a:ln w="12700">
            <a:solidFill>
              <a:srgbClr val="D8E3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08976" y="2103120"/>
            <a:ext cx="3523183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4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tool_calls 를 직접 파싱</a:t>
            </a:r>
            <a:endParaRPr lang="en-US" sz="14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17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ai_msg.tool_calls 를 순회하며 각 호출을 우리 코드가 직접 실행한다.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7589520" y="3694176"/>
            <a:ext cx="3962095" cy="1737360"/>
          </a:xfrm>
          <a:prstGeom prst="roundRect">
            <a:avLst>
              <a:gd name="adj" fmla="val 4737"/>
            </a:avLst>
          </a:prstGeom>
          <a:solidFill>
            <a:srgbClr val="F1F6F5"/>
          </a:solidFill>
          <a:ln w="12700">
            <a:solidFill>
              <a:srgbClr val="D8E3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08976" y="3822192"/>
            <a:ext cx="3523183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4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ToolMessage 로 결과 전달</a:t>
            </a:r>
            <a:endParaRPr lang="en-US" sz="14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17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실행 결과를 ToolMessage 로 감싸 messages 에 추가한 뒤 다시 invoke 한다 — 이것이 '왕복'이다.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calling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0944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 뜯어보기 ⑤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28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create_react_agent 한 줄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6675120" cy="4480560"/>
          </a:xfrm>
          <a:prstGeom prst="roundRect">
            <a:avLst>
              <a:gd name="adj" fmla="val 1633"/>
            </a:avLst>
          </a:prstGeom>
          <a:solidFill>
            <a:srgbClr val="1E1E1E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63500" dist="38100" dir="5400000">
              <a:srgbClr val="0B2A30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645920"/>
            <a:ext cx="100584" cy="100584"/>
          </a:xfrm>
          <a:prstGeom prst="ellipse">
            <a:avLst/>
          </a:prstGeom>
          <a:solidFill>
            <a:srgbClr val="FF5F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42416" y="1645920"/>
            <a:ext cx="100584" cy="100584"/>
          </a:xfrm>
          <a:prstGeom prst="ellipse">
            <a:avLst/>
          </a:prstGeom>
          <a:solidFill>
            <a:srgbClr val="FFB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43584" y="1645920"/>
            <a:ext cx="100584" cy="100584"/>
          </a:xfrm>
          <a:prstGeom prst="ellipse">
            <a:avLst/>
          </a:prstGeom>
          <a:solidFill>
            <a:srgbClr val="27C9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1847088"/>
            <a:ext cx="6163056" cy="3950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step_5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-&gt; 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9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"Step 5: create_react_agent 한 줄로 Step 4 의 루프를 대체"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</a:t>
            </a:r>
            <a:endParaRPr lang="en-US" sz="9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create_react_agent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[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multiply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</a:t>
            </a:r>
            <a:endParaRPr lang="en-US" sz="9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invoke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9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{</a:t>
            </a:r>
            <a:endParaRPr lang="en-US" sz="9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"messages"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[</a:t>
            </a:r>
            <a:endParaRPr lang="en-US" sz="9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HumanMessage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"{A} 곱하기 {B} 를 계산해줘. 반드시 도구를 써라."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]</a:t>
            </a:r>
            <a:endParaRPr lang="en-US" sz="9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9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</a:t>
            </a:r>
            <a:endParaRPr lang="en-US" sz="9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used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[</a:t>
            </a:r>
            <a:endParaRPr lang="en-US" sz="9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"name"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9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"messages"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9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getattr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"tool_calls"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[])</a:t>
            </a:r>
            <a:endParaRPr lang="en-US" sz="9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]</a:t>
            </a:r>
            <a:endParaRPr lang="en-US" sz="9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"호출된 도구:"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used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"최종 답변:"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"messages"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][-1].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7589520" y="1975104"/>
            <a:ext cx="3962095" cy="1783080"/>
          </a:xfrm>
          <a:prstGeom prst="roundRect">
            <a:avLst>
              <a:gd name="adj" fmla="val 4615"/>
            </a:avLst>
          </a:prstGeom>
          <a:solidFill>
            <a:srgbClr val="F1F6F5"/>
          </a:solidFill>
          <a:ln w="12700">
            <a:solidFill>
              <a:srgbClr val="D8E3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08976" y="2103120"/>
            <a:ext cx="3523183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4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줄로 대체</a:t>
            </a:r>
            <a:endParaRPr lang="en-US" sz="14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17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create_react_agent(model, [multiply]) 가 Step 4 의 파싱 → 실행 → ToolMessage → 재호출 루프를 전부 감싼다.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7589520" y="4014216"/>
            <a:ext cx="3962095" cy="1417320"/>
          </a:xfrm>
          <a:prstGeom prst="roundRect">
            <a:avLst>
              <a:gd name="adj" fmla="val 5806"/>
            </a:avLst>
          </a:prstGeom>
          <a:solidFill>
            <a:srgbClr val="F1F6F5"/>
          </a:solidFill>
          <a:ln w="12700">
            <a:solidFill>
              <a:srgbClr val="D8E3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08976" y="4142232"/>
            <a:ext cx="3523183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4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필요한 만큼 반복</a:t>
            </a:r>
            <a:endParaRPr lang="en-US" sz="14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17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도구가 여러 번 필요해도 에이전트가 스스로 반복 호출한다 — 우리는 루프를 짜지 않는다.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calling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0944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비교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28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수동 루프 vs create_react_agent</a:t>
            </a:r>
            <a:endParaRPr lang="en-US" sz="3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911535" cy="3566160"/>
        </p:xfrm>
        <a:graphic>
          <a:graphicData uri="http://schemas.openxmlformats.org/drawingml/2006/table">
            <a:tbl>
              <a:tblPr/>
              <a:tblGrid>
                <a:gridCol w="2377440"/>
                <a:gridCol w="4261104"/>
                <a:gridCol w="4261104"/>
              </a:tblGrid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항목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수동 왕복 루프 (Step 4)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create_react_agent (Step 5)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728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코드량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tool_calls 파싱 → 실행 → ToolMessage 조립 → 재호출을 직접 작성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create_react_agent(model, tools) 한 줄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5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728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다중 도구 처리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도구가 늘수록 분기 · 매핑 코드를 직접 확장해야 한다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도구 리스트에 추가만 하면 내부에서 자동 처리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728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반복 호출(에이전트 루프)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반복이 필요하면 루프를 직접 다시 작성해야 한다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필요한 만큼 스스로 반복 호출한다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5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728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적합한 상황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왕복 과정을 직접 제어 · 디버깅하고 싶을 때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빠르게 실무에 적용하고 싶을 때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48640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F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create_react_agent 는 마법이 아니다 — 수동 루프를 감싸 반복해주는 것뿐이다.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calling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0944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 뜯어보기 ⑥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28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엑셀 셀 write → read 도구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6675120" cy="4480560"/>
          </a:xfrm>
          <a:prstGeom prst="roundRect">
            <a:avLst>
              <a:gd name="adj" fmla="val 1633"/>
            </a:avLst>
          </a:prstGeom>
          <a:solidFill>
            <a:srgbClr val="1E1E1E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63500" dist="38100" dir="5400000">
              <a:srgbClr val="0B2A30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645920"/>
            <a:ext cx="100584" cy="100584"/>
          </a:xfrm>
          <a:prstGeom prst="ellipse">
            <a:avLst/>
          </a:prstGeom>
          <a:solidFill>
            <a:srgbClr val="FF5F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42416" y="1645920"/>
            <a:ext cx="100584" cy="100584"/>
          </a:xfrm>
          <a:prstGeom prst="ellipse">
            <a:avLst/>
          </a:prstGeom>
          <a:solidFill>
            <a:srgbClr val="FFB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43584" y="1645920"/>
            <a:ext cx="100584" cy="100584"/>
          </a:xfrm>
          <a:prstGeom prst="ellipse">
            <a:avLst/>
          </a:prstGeom>
          <a:solidFill>
            <a:srgbClr val="27C9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1847088"/>
            <a:ext cx="6163056" cy="3950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@</a:t>
            </a:r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</a:t>
            </a:r>
            <a:endParaRPr lang="en-US" sz="9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excel_write_cell</a:t>
            </a:r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address</a:t>
            </a:r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</a:t>
            </a:r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</a:t>
            </a:r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</a:t>
            </a:r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-&gt; </a:t>
            </a:r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</a:t>
            </a:r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9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</a:t>
            </a:r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"엑셀 시트의 특정 셀(예 'B2')에 값을 기록한다."</a:t>
            </a:r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</a:t>
            </a:r>
            <a:endParaRPr lang="en-US" sz="9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sheet</a:t>
            </a:r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</a:t>
            </a:r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address</a:t>
            </a:r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</a:t>
            </a:r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</a:t>
            </a:r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</a:t>
            </a:r>
            <a:endParaRPr lang="en-US" sz="9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"{address} 에 '{value}' 를 기록했다."</a:t>
            </a:r>
            <a:endParaRPr lang="en-US" sz="9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@</a:t>
            </a:r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</a:t>
            </a:r>
            <a:endParaRPr lang="en-US" sz="9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excel_read_cell</a:t>
            </a:r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address</a:t>
            </a:r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</a:t>
            </a:r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-&gt; </a:t>
            </a:r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</a:t>
            </a:r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9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</a:t>
            </a:r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"엑셀 시트의 특정 셀(예 'B2') 값을 읽어 돌려준다."</a:t>
            </a:r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</a:t>
            </a:r>
            <a:endParaRPr lang="en-US" sz="9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"{address} = {sheet.range(address).value}"</a:t>
            </a:r>
            <a:endParaRPr lang="en-US" sz="9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</a:t>
            </a:r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create_react_agent</a:t>
            </a:r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</a:t>
            </a:r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[</a:t>
            </a:r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excel_write_cell</a:t>
            </a:r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excel_read_cell</a:t>
            </a:r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</a:t>
            </a:r>
            <a:endParaRPr lang="en-US" sz="9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token</a:t>
            </a:r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"엑셀툴검증OK"</a:t>
            </a:r>
            <a:endParaRPr lang="en-US" sz="9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</a:t>
            </a:r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(</a:t>
            </a:r>
            <a:endParaRPr lang="en-US" sz="9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"먼저 excel_write_cell 로 셀 B2 에 '{token}' 를 기록해라. "</a:t>
            </a:r>
            <a:endParaRPr lang="en-US" sz="9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"그다음 excel_read_cell 로 B2 를 읽어 그 값을 그대로 알려줘. "</a:t>
            </a:r>
            <a:endParaRPr lang="en-US" sz="9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"반드시 두 도구를 순서대로 사용해라."</a:t>
            </a:r>
            <a:endParaRPr lang="en-US" sz="9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589520" y="1792224"/>
            <a:ext cx="3962095" cy="1828800"/>
          </a:xfrm>
          <a:prstGeom prst="roundRect">
            <a:avLst>
              <a:gd name="adj" fmla="val 4500"/>
            </a:avLst>
          </a:prstGeom>
          <a:solidFill>
            <a:srgbClr val="F1F6F5"/>
          </a:solidFill>
          <a:ln w="12700">
            <a:solidFill>
              <a:srgbClr val="D8E3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08976" y="1920240"/>
            <a:ext cx="3523183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4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엑셀 셀도 그냥 도구다</a:t>
            </a:r>
            <a:endParaRPr lang="en-US" sz="14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17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excel_write_cell / excel_read_cell 은 sheet.range(...).value 를 감싼 @tool 일 뿐 — 패턴은 multiply 와 동일하다.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7589520" y="3877056"/>
            <a:ext cx="3962095" cy="1737360"/>
          </a:xfrm>
          <a:prstGeom prst="roundRect">
            <a:avLst>
              <a:gd name="adj" fmla="val 4737"/>
            </a:avLst>
          </a:prstGeom>
          <a:solidFill>
            <a:srgbClr val="F1F6F5"/>
          </a:solidFill>
          <a:ln w="12700">
            <a:solidFill>
              <a:srgbClr val="D8E3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08976" y="4005072"/>
            <a:ext cx="3523183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4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 도구를 순서대로</a:t>
            </a:r>
            <a:endParaRPr lang="en-US" sz="14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17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프롬프트가 '먼저 쓰고, 그다음 읽어라'고 지시하면 에이전트가 write → read 순서로 두 도구를 호출한다.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calling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0944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실전 결과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28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엑셀에도 그대로 적용된다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911535" cy="2286000"/>
          </a:xfrm>
          <a:prstGeom prst="roundRect">
            <a:avLst>
              <a:gd name="adj" fmla="val 3200"/>
            </a:avLst>
          </a:prstGeom>
          <a:solidFill>
            <a:srgbClr val="1E1E1E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63500" dist="38100" dir="5400000">
              <a:srgbClr val="0B2A30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783080"/>
            <a:ext cx="100584" cy="100584"/>
          </a:xfrm>
          <a:prstGeom prst="ellipse">
            <a:avLst/>
          </a:prstGeom>
          <a:solidFill>
            <a:srgbClr val="FF5F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42416" y="1783080"/>
            <a:ext cx="100584" cy="100584"/>
          </a:xfrm>
          <a:prstGeom prst="ellipse">
            <a:avLst/>
          </a:prstGeom>
          <a:solidFill>
            <a:srgbClr val="FFB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43584" y="1783080"/>
            <a:ext cx="100584" cy="100584"/>
          </a:xfrm>
          <a:prstGeom prst="ellipse">
            <a:avLst/>
          </a:prstGeom>
          <a:solidFill>
            <a:srgbClr val="27C9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1984248"/>
            <a:ext cx="10399471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호출된 도구: [</a:t>
            </a:r>
            <a:pPr algn="l"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'excel_write_cell'</a:t>
            </a:r>
            <a:pPr algn="l"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'excel_read_cell'</a:t>
            </a:r>
            <a:pPr algn="l"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5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실제 </a:t>
            </a:r>
            <a:pPr algn="l"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B2</a:t>
            </a:r>
            <a:pPr algn="l"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셀 값: 엑셀툴검증</a:t>
            </a:r>
            <a:pPr algn="l"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OK</a:t>
            </a:r>
            <a:endParaRPr lang="en-US" sz="15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최종 답변: </a:t>
            </a:r>
            <a:pPr algn="l"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B2</a:t>
            </a:r>
            <a:pPr algn="l"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셀에 </a:t>
            </a:r>
            <a:pPr algn="l"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'엑셀툴검증OK'</a:t>
            </a:r>
            <a:pPr algn="l"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를 기록했고,</a:t>
            </a:r>
            <a:endParaRPr lang="en-US" sz="15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다시 읽어보니 값은 </a:t>
            </a:r>
            <a:pPr algn="l"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'엑셀툴검증OK'</a:t>
            </a:r>
            <a:pPr algn="l"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입니다.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397764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F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예시 출력 — xlwings + Microsoft Excel 설치 환경에서 step_6 실행 시 (콘솔 형식은 실제 print() 문 그대로, 값은 코드 동작 기준 예시)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40080" y="4343400"/>
            <a:ext cx="10911535" cy="1463040"/>
          </a:xfrm>
          <a:prstGeom prst="roundRect">
            <a:avLst>
              <a:gd name="adj" fmla="val 5625"/>
            </a:avLst>
          </a:prstGeom>
          <a:solidFill>
            <a:srgbClr val="0E43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4471416"/>
            <a:ext cx="10399471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실무 데이터(엑셀)에도 그대로 적용된다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하나로 검증한 tool calling 패턴이, 셀 write/read 도구로 그대로 확장된다 — 도구만 바뀌었을 뿐 호출 → 실행 → 응답의 왕복 구조는 동일하다.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calling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0944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831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023360"/>
            <a:ext cx="4572000" cy="4572000"/>
          </a:xfrm>
          <a:prstGeom prst="ellipse">
            <a:avLst/>
          </a:prstGeom>
          <a:solidFill>
            <a:srgbClr val="0C3E4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822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정리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" y="11887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오늘의 핵심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822960" y="2331720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63040" y="2313432"/>
            <a:ext cx="9418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LLM은 도구를 실행하지 않고 호출을 요청한다.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822960" y="3200400"/>
            <a:ext cx="457200" cy="45720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63040" y="3182112"/>
            <a:ext cx="9418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@tool 의 docstring이 LLM에게 주는 유일한 설명서다.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822960" y="4069080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63040" y="4050792"/>
            <a:ext cx="9418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create_react_agent 는 수동 왕복 루프를 감싼 것뿐이다.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822960" y="4937760"/>
            <a:ext cx="457200" cy="45720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4937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463040" y="4919472"/>
            <a:ext cx="9418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도구만 바뀌면 같은 패턴으로 어떤 업무든 자동화할 수 있다.</a:t>
            </a:r>
            <a:endParaRPr lang="en-US" sz="15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831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463040"/>
            <a:ext cx="4937760" cy="4937760"/>
          </a:xfrm>
          <a:prstGeom prst="ellipse">
            <a:avLst/>
          </a:prstGeom>
          <a:solidFill>
            <a:srgbClr val="0C3E4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241280" y="3383280"/>
            <a:ext cx="3840480" cy="3840480"/>
          </a:xfrm>
          <a:prstGeom prst="ellipse">
            <a:avLst/>
          </a:prstGeom>
          <a:solidFill>
            <a:srgbClr val="0A36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965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단계 예고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242316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엑셀 분석 ReAct 에이전트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22960" y="342900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9D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설계 · 사전검증은 이미 끝났다 — verify_tool_calling.py 의 [1]/[2] PASS 가 이 계획을 실행할 전제 조건이다.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416052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docs/superpowers/plans/2026-07-24-excel-analysis-agent.md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2026-07-25T09:52:31Z</dcterms:created>
  <dcterms:modified xsi:type="dcterms:W3CDTF">2026-07-25T09:52:31Z</dcterms:modified>
</cp:coreProperties>
</file>