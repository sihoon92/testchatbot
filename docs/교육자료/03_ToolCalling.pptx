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241280" y="3383280"/>
            <a:ext cx="3840480" cy="3840480"/>
          </a:xfrm>
          <a:prstGeom prst="ellipse">
            <a:avLst/>
          </a:prstGeom>
          <a:solidFill>
            <a:srgbClr val="0A36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교육자료 · 3편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calling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LLM이 계산을 틀리는 이유에서 시작해,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도구를 정의하고 호출하는 원리를 코드로 뜯어본다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526280"/>
            <a:ext cx="1508760" cy="548640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5262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4800600"/>
            <a:ext cx="292608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24328" y="4526280"/>
            <a:ext cx="1508760" cy="548640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0A89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24328" y="45262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33088" y="4800600"/>
            <a:ext cx="29260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25696" y="4526280"/>
            <a:ext cx="1508760" cy="548640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0A89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425696" y="45262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실행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34456" y="4800600"/>
            <a:ext cx="29260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227064" y="4526280"/>
            <a:ext cx="1508760" cy="548640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227064" y="45262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답변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 배울 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158191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필요한가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9659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없이 vs 도구 있이 — 큰 수 곱셈으로 비교 — tool_calling_step_by_step.py 로 실습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508760" y="2478024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770632"/>
            <a:ext cx="548640" cy="5486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6609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정의와 바인딩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30449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 로 정의하고, bind_tools 로 LLM에 연결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508760" y="3557016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1520" y="3849624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3849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원리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12394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왕복 루프 vs create_react_agent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508760" y="4636008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" y="4928616"/>
            <a:ext cx="548640" cy="5486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928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08760" y="4818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실전(엑셀 도구)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02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패턴을 엑셀 셀 write/read 에 적용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calling 이란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LLM이 도구를 직접 '실행'한다는 건 흔한 오해다 — 실제로는 요청과 실행이 분리되어 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72888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2032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20624" cy="420624"/>
          </a:xfrm>
          <a:prstGeom prst="ellipse">
            <a:avLst/>
          </a:prstGeom>
          <a:solidFill>
            <a:srgbClr val="5F707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흔한 오해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383280"/>
            <a:ext cx="47242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"LLM이 함수를 직접 실행한다"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곱셈이 필요하면 LLM이 스스로 계산까지 마쳐서 결과를 돌려준다고 생각하기 쉽다.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9544" y="3383280"/>
            <a:ext cx="29260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78728" y="1965960"/>
            <a:ext cx="5272888" cy="2834640"/>
          </a:xfrm>
          <a:prstGeom prst="roundRect">
            <a:avLst>
              <a:gd name="adj" fmla="val 3226"/>
            </a:avLst>
          </a:prstGeom>
          <a:solidFill>
            <a:srgbClr val="F1F6F5"/>
          </a:solidFill>
          <a:ln w="2032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3048" y="2240280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53048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53048" y="283464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벌어지는 일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53048" y="3383280"/>
            <a:ext cx="47242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도구를, 이 인자로 불러줘"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LLM은 호출 요청만 만든다. 실제 실행(함수 호출)은 항상 우리 코드가 담당한다.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0E434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202936"/>
            <a:ext cx="10399471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오해 교정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LLM은 함수를 직접 실행하지 않는다. “이 도구를, 이 인자로 불러줘” 라고 말할 뿐이고, 실제 실행은 우리 코드가 한다.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① — tool_calling_step_by_step.py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도구가 필요한가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847088"/>
            <a:ext cx="616305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4823, 6791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암산으로는 못 맞히는 크기 - 도구가 필요한 이유를 보여준다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step_1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 1: 도구 없이 큰 수 곱셈을 직접 시키기"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"{A} 곱하기 {B} 는 얼마야? 숫자만 답해."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"모델 답변: {reply.content!r}"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"정답({correct})이 답변에 포함됐는가: {str(correct) in reply.content}"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0" y="1975104"/>
            <a:ext cx="3962095" cy="1417320"/>
          </a:xfrm>
          <a:prstGeom prst="roundRect">
            <a:avLst>
              <a:gd name="adj" fmla="val 5806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08976" y="2103120"/>
            <a:ext cx="3523183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결과 (오답)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답변: '32753003'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정답(32752993)이 답변에 포함됐는가: False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589520" y="3648456"/>
            <a:ext cx="3962095" cy="1783080"/>
          </a:xfrm>
          <a:prstGeom prst="roundRect">
            <a:avLst>
              <a:gd name="adj" fmla="val 461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808976" y="3776472"/>
            <a:ext cx="3523183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도구가 필요한가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LLM은 큰 수 곱셈을 암산하듯 추정한다 — 자릿수가 커지면 신뢰할 수 없다. 정확한 계산은 도구에 맡겨야 한다.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589520" y="5943600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>
                <a:solidFill>
                  <a:srgbClr val="5F7075"/>
                </a:solidFill>
                <a:latin typeface="Courier New"/>
              </a:rPr>
              <a:t>실행: python examples/tool_calling_step_by_step.py --step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@tool 로 도구 정의하기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847088"/>
            <a:ext cx="616305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"두 정수 a, b 를 곱한 값을 돌려준다. 곱셈이 필요하면 반드시 이 도구를 써라."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step_2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 2: @tool 로 도구를 정의만 해보기 (아직 LLM 에 연결 안 함)"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"도구 이름:"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"도구 설명(LLM 이 읽는 부분):"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"도구 스키마:"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"직접 호출:"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0" y="1975104"/>
            <a:ext cx="3962095" cy="1737360"/>
          </a:xfrm>
          <a:prstGeom prst="roundRect">
            <a:avLst>
              <a:gd name="adj" fmla="val 4737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08976" y="2103120"/>
            <a:ext cx="3523183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= LLM용 설명서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multiply.description 은 함수의 docstring 그대로다 — LLM은 이 문장만 보고 언제 도구를 써야 하는지 판단한다.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589520" y="3968496"/>
            <a:ext cx="3962095" cy="1463040"/>
          </a:xfrm>
          <a:prstGeom prst="roundRect">
            <a:avLst>
              <a:gd name="adj" fmla="val 562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808976" y="4096512"/>
            <a:ext cx="3523183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LLM에 연결 안 됨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여기서는 도구를 정의하고 직접 호출만 해본다 — bind_tools 는 다음 단계에서 나온다.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589520" y="5943600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>
                <a:solidFill>
                  <a:srgbClr val="5F7075"/>
                </a:solidFill>
                <a:latin typeface="Courier New"/>
              </a:rPr>
              <a:t>실행: python examples/tool_calling_step_by_step.py --step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bind_tools 로 연결하기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847088"/>
            <a:ext cx="616305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step_3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 3: bind_tools - LLM 이 '부르고 싶다'고 말하는 것을 확인"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bind_tools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"{A} 곱하기 {B} 를 계산해줘. 반드시 도구를 써라."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"tool_calls:"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tool_calls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"content(비어있을 수 있다 - 아직 계산 안 함):"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"\n주의: 이 시점까지 실제 곱셈은 한 번도 실행되지 않았다 - 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"LLM 은 '불러달라'는 요청만 만들었다."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0" y="1975104"/>
            <a:ext cx="3962095" cy="1417320"/>
          </a:xfrm>
          <a:prstGeom prst="roundRect">
            <a:avLst>
              <a:gd name="adj" fmla="val 5806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08976" y="2103120"/>
            <a:ext cx="3523183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만 생성됨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reply.tool_calls 에 이름 · 인자가 담겨 있다 — 이것이 '불러달라'는 요청이다.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589520" y="3648456"/>
            <a:ext cx="3962095" cy="1783080"/>
          </a:xfrm>
          <a:prstGeom prst="roundRect">
            <a:avLst>
              <a:gd name="adj" fmla="val 461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808976" y="3776472"/>
            <a:ext cx="3523183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계산은 실행되지 않았다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는 비어있다 — 실제 실행은 다음 단계(Step 4)에서 우리 코드가 한다.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589520" y="5943600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>
                <a:solidFill>
                  <a:srgbClr val="5F7075"/>
                </a:solidFill>
                <a:latin typeface="Courier New"/>
              </a:rPr>
              <a:t>실행: python examples/tool_calling_step_by_step.py --step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다이어그램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도구 호출 왕복 흐름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9468" y="1965960"/>
            <a:ext cx="18745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96416" y="175564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9641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9196" y="2258568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코드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79196" y="2679192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 — 모델을 호출한다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43988" y="2674620"/>
            <a:ext cx="3200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64028" y="1965960"/>
            <a:ext cx="1874520" cy="1417320"/>
          </a:xfrm>
          <a:prstGeom prst="roundRect">
            <a:avLst>
              <a:gd name="adj" fmla="val 5806"/>
            </a:avLst>
          </a:prstGeom>
          <a:solidFill>
            <a:srgbClr val="F1F6F5"/>
          </a:solidFill>
          <a:ln w="1778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90976" y="175564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9097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73756" y="2258568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73756" y="2679192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로 응답 — 이 도구를, 이 인자로 불러달라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38548" y="2674620"/>
            <a:ext cx="3200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158588" y="1965960"/>
            <a:ext cx="18745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885536" y="175564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855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68316" y="2258568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코드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68316" y="2679192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실행 — 도구 함수를 직접 호출한다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033108" y="2674620"/>
            <a:ext cx="3200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53148" y="1965960"/>
            <a:ext cx="1874520" cy="1417320"/>
          </a:xfrm>
          <a:prstGeom prst="roundRect">
            <a:avLst>
              <a:gd name="adj" fmla="val 5806"/>
            </a:avLst>
          </a:prstGeom>
          <a:solidFill>
            <a:srgbClr val="F1F6F5"/>
          </a:solidFill>
          <a:ln w="1778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080096" y="175564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08009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62876" y="2258568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ToolMessage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62876" y="2679192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결과를 다시 담아 전달한다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227668" y="2674620"/>
            <a:ext cx="3200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547708" y="1965960"/>
            <a:ext cx="18745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778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274656" y="17556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27465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657436" y="2258568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57436" y="2679192"/>
            <a:ext cx="1655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재호출 — 결과를 보고 최종 답을 만든다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" y="3977640"/>
            <a:ext cx="10911535" cy="1143000"/>
          </a:xfrm>
          <a:prstGeom prst="roundRect">
            <a:avLst>
              <a:gd name="adj" fmla="val 7200"/>
            </a:avLst>
          </a:prstGeom>
          <a:solidFill>
            <a:srgbClr val="0E434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6112" y="4105656"/>
            <a:ext cx="10399471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문장 요약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LLM은 도구를 실행하지 않는다 — 호출을 요청할 뿐, 실제 실행은 항상 우리 코드가 담당한다.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1→2→3→4 를 거쳐 5 에서 최종 답이 나온다 — Step 4 의 수동 루프가 정확히 이 왕복을 코드로 옮긴 것이다.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수동 왕복 루프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847088"/>
            <a:ext cx="616305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step_4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 4: 수동 왕복 루프 - 도구를 실제로 실행하고 결과를 되돌려준다"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tools_by_name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bind_tools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[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"{A} 곱하기 {B} 를 계산해줘. 반드시 도구를 써라."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ai_msg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ai_msg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ai_msg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tools_by_name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]].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"args"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"[실행] {call['name']}({call['args']}) = {result}"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ToolMessage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tool_call_id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"최종 답변:"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589520" y="1975104"/>
            <a:ext cx="3962095" cy="1463040"/>
          </a:xfrm>
          <a:prstGeom prst="roundRect">
            <a:avLst>
              <a:gd name="adj" fmla="val 562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08976" y="2103120"/>
            <a:ext cx="3523183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를 직접 파싱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ai_msg.tool_calls 를 순회하며 각 호출을 우리 코드가 직접 실행한다.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589520" y="3694176"/>
            <a:ext cx="3962095" cy="1737360"/>
          </a:xfrm>
          <a:prstGeom prst="roundRect">
            <a:avLst>
              <a:gd name="adj" fmla="val 4737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808976" y="3822192"/>
            <a:ext cx="3523183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ToolMessage 로 결과 전달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결과를 ToolMessage 로 감싸 messages 에 추가한 뒤 다시 invoke 한다 — 이것이 '왕복'이다.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589520" y="5943600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>
                <a:solidFill>
                  <a:srgbClr val="5F7075"/>
                </a:solidFill>
                <a:latin typeface="Courier New"/>
              </a:rPr>
              <a:t>실행: python examples/tool_calling_step_by_step.py --step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create_react_agent 한 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847088"/>
            <a:ext cx="616305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step_5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 5: create_react_agent 한 줄로 Step 4 의 루프를 대체"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create_react_agent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multiply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"messages"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"{A} 곱하기 {B} 를 계산해줘. 반드시 도구를 써라."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]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[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"messages"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getattr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"tool_calls"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[])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"호출된 도구:"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"최종 답변:"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"messages"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][-1].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0" y="1975104"/>
            <a:ext cx="3962095" cy="1783080"/>
          </a:xfrm>
          <a:prstGeom prst="roundRect">
            <a:avLst>
              <a:gd name="adj" fmla="val 461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08976" y="2103120"/>
            <a:ext cx="3523183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줄로 대체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create_react_agent(model, [multiply]) 가 Step 4 의 파싱 → 실행 → ToolMessage → 재호출 루프를 전부 감싼다.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589520" y="4014216"/>
            <a:ext cx="3962095" cy="1417320"/>
          </a:xfrm>
          <a:prstGeom prst="roundRect">
            <a:avLst>
              <a:gd name="adj" fmla="val 5806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808976" y="4142232"/>
            <a:ext cx="3523183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필요한 만큼 반복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도구가 여러 번 필요해도 에이전트가 스스로 반복 호출한다 — 우리는 루프를 짜지 않는다.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589520" y="5943600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>
                <a:solidFill>
                  <a:srgbClr val="5F7075"/>
                </a:solidFill>
                <a:latin typeface="Courier New"/>
              </a:rPr>
              <a:t>실행: python examples/tool_calling_step_by_step.py --step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수동 루프 vs create_react_agent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3566160"/>
        </p:xfrm>
        <a:graphic>
          <a:graphicData uri="http://schemas.openxmlformats.org/drawingml/2006/table">
            <a:tbl>
              <a:tblPr/>
              <a:tblGrid>
                <a:gridCol w="2377440"/>
                <a:gridCol w="4261104"/>
                <a:gridCol w="4261104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 왕복 루프 (Step 4)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create_react_agent (Step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코드량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 파싱 → 실행 → ToolMessage 조립 → 재호출을 직접 작성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create_react_agent(model, tools) 한 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다중 도구 처리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도구가 늘수록 분기 · 매핑 코드를 직접 확장해야 한다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도구 리스트에 추가만 하면 내부에서 자동 처리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반복 호출(에이전트 루프)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반복이 필요하면 루프를 직접 다시 작성해야 한다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필요한 만큼 스스로 반복 호출한다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적합한 상황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왕복 과정을 직접 제어 · 디버깅하고 싶을 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빠르게 실무에 적용하고 싶을 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create_react_agent 는 마법이 아니다 — 수동 루프를 감싸 반복해주는 것뿐이다.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엑셀 셀 write → read 도구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847088"/>
            <a:ext cx="616305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step_6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[0]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excel_write_cell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"엑셀 시트의 특정 셀(예 'B2')에 값을 기록한다."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"{address} 에 '{value}' 를 기록했다."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excel_read_cell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"엑셀 시트의 특정 셀(예 'B2') 값을 읽어 돌려준다."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"{address} = {sheet.range(address).value}"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create_react_agent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excel_write_cell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excel_read_cell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"엑셀툴검증OK"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"먼저 excel_write_cell 로 셀 B2 에 '{token}' 를 기록해라. 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"그다음 excel_read_cell 로 B2 를 읽어 그 값을 그대로 알려줘. 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"반드시 두 도구를 순서대로 사용해라."</a:t>
            </a:r>
            <a:endParaRPr lang="en-US" sz="9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589520" y="1792224"/>
            <a:ext cx="3962095" cy="1828800"/>
          </a:xfrm>
          <a:prstGeom prst="roundRect">
            <a:avLst>
              <a:gd name="adj" fmla="val 4500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08976" y="1920240"/>
            <a:ext cx="3523183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셀도 그냥 도구다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excel_write_cell / excel_read_cell 은 sheet.range(...).value 를 감싼 @tool 일 뿐 — 패턴은 multiply 와 동일하다.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589520" y="3877056"/>
            <a:ext cx="3962095" cy="1737360"/>
          </a:xfrm>
          <a:prstGeom prst="roundRect">
            <a:avLst>
              <a:gd name="adj" fmla="val 4737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808976" y="4005072"/>
            <a:ext cx="3523183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도구를 순서대로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프롬프트가 '먼저 쓰고, 그다음 읽어라'고 지시하면 에이전트가 write → read 순서로 두 도구를 호출한다.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589520" y="5943600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>
                <a:solidFill>
                  <a:srgbClr val="5F7075"/>
                </a:solidFill>
                <a:latin typeface="Courier New"/>
              </a:rPr>
              <a:t>실행: python examples/tool_calling_step_by_step.py --step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98464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libri"/>
              </a:rPr>
              <a:t>tool_calling_step_by_step.py — step_6 내부 (일부)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엑셀에도 그대로 적용된다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78308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78308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78308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984248"/>
            <a:ext cx="10399471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호출된 도구: [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'excel_write_cell'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'excel_read_cell'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셀 값: 엑셀툴검증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최종 답변: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셀에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'엑셀툴검증OK'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를 기록했고,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다시 읽어보니 값은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'엑셀툴검증OK'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입니다.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출력 — xlwings + Microsoft Excel 설치 환경에서 step_6 실행 시 (콘솔 형식은 실제 print() 문 그대로, 값은 코드 동작 기준 예시)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4343400"/>
            <a:ext cx="10911535" cy="1463040"/>
          </a:xfrm>
          <a:prstGeom prst="roundRect">
            <a:avLst>
              <a:gd name="adj" fmla="val 5625"/>
            </a:avLst>
          </a:prstGeom>
          <a:solidFill>
            <a:srgbClr val="0E434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4471416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실무 데이터(엑셀)에도 그대로 적용된다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하나로 검증한 tool calling 패턴이, 셀 write/read 도구로 그대로 확장된다 — 도구만 바뀌었을 뿐 호출 → 실행 → 응답의 왕복 구조는 동일하다.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핵심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1343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LLM은 도구를 실행하지 않고 호출을 요청한다.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318211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 의 docstring이 LLM에게 주는 유일한 설명서다.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405079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create_react_agent 는 수동 왕복 루프를 감싼 것뿐이다.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937760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491947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도구만 바뀌면 같은 패턴으로 어떤 업무든 자동화할 수 있다.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241280" y="3383280"/>
            <a:ext cx="3840480" cy="3840480"/>
          </a:xfrm>
          <a:prstGeom prst="ellipse">
            <a:avLst/>
          </a:prstGeom>
          <a:solidFill>
            <a:srgbClr val="0A36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 예고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엑셀 분석 ReAct 에이전트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· 사전검증은 이미 끝났다 — verify_tool_calling.py 의 [1]/[2] PASS 가 이 계획을 실행할 전제 조건이다.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docs/superpowers/plans/2026-07-24-excel-analysis-agent.md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2026-07-25T09:52:31Z</dcterms:created>
  <dcterms:modified xsi:type="dcterms:W3CDTF">2026-07-25T09:52:31Z</dcterms:modified>
</cp:coreProperties>
</file>